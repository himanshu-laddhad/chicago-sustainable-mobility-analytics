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>
        <p:scale>
          <a:sx n="88" d="100"/>
          <a:sy n="88" d="100"/>
        </p:scale>
        <p:origin x="81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9:44:39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591650" y="3104928"/>
            <a:ext cx="310492" cy="310492"/>
            <a:chOff x="990456" y="3391893"/>
            <a:chExt cx="360000" cy="360000"/>
          </a:xfrm>
        </p:grpSpPr>
        <p:sp>
          <p:nvSpPr>
            <p:cNvPr id="16" name="Rectangle: Rounded Corners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591650" y="3997316"/>
            <a:ext cx="310492" cy="310492"/>
            <a:chOff x="990456" y="3391893"/>
            <a:chExt cx="360000" cy="360000"/>
          </a:xfrm>
        </p:grpSpPr>
        <p:sp>
          <p:nvSpPr>
            <p:cNvPr id="19" name="Rectangle: Rounded Corners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591650" y="4889704"/>
            <a:ext cx="310492" cy="310492"/>
            <a:chOff x="990456" y="3391893"/>
            <a:chExt cx="360000" cy="360000"/>
          </a:xfrm>
        </p:grpSpPr>
        <p:sp>
          <p:nvSpPr>
            <p:cNvPr id="22" name="Rectangle: Rounded Corners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591650" y="5782091"/>
            <a:ext cx="310492" cy="310492"/>
            <a:chOff x="990456" y="3391893"/>
            <a:chExt cx="360000" cy="360000"/>
          </a:xfrm>
        </p:grpSpPr>
        <p:sp>
          <p:nvSpPr>
            <p:cNvPr id="33" name="Rectangle: Rounded Corners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6208224" y="3104928"/>
            <a:ext cx="310492" cy="310492"/>
            <a:chOff x="990456" y="3391893"/>
            <a:chExt cx="360000" cy="360000"/>
          </a:xfrm>
        </p:grpSpPr>
        <p:sp>
          <p:nvSpPr>
            <p:cNvPr id="36" name="Rectangle: Rounded Corners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6208224" y="3997316"/>
            <a:ext cx="310492" cy="310492"/>
            <a:chOff x="990456" y="3391893"/>
            <a:chExt cx="360000" cy="360000"/>
          </a:xfrm>
        </p:grpSpPr>
        <p:sp>
          <p:nvSpPr>
            <p:cNvPr id="58" name="Rectangle: Rounded Corners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6208224" y="4889704"/>
            <a:ext cx="310492" cy="310492"/>
            <a:chOff x="990456" y="3391893"/>
            <a:chExt cx="360000" cy="360000"/>
          </a:xfrm>
        </p:grpSpPr>
        <p:sp>
          <p:nvSpPr>
            <p:cNvPr id="61" name="Rectangle: Rounded Corners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6208224" y="5782091"/>
            <a:ext cx="310492" cy="310492"/>
            <a:chOff x="990456" y="3391893"/>
            <a:chExt cx="360000" cy="360000"/>
          </a:xfrm>
        </p:grpSpPr>
        <p:sp>
          <p:nvSpPr>
            <p:cNvPr id="64" name="Rectangle: Rounded Corners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Rectangle: Rounded Corners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Rectangle: Rounded Corners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Rectangle: Rounded Corners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Rectangle: Rounded Corners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6"/>
            <a:ext cx="4116388" cy="2618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0111D9-9615-C1EC-934E-C33457C00A1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3322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7049D2-BB3B-6064-384A-B54CEA26B1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485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335DD5-0C41-4AF4-E82A-A985B29A2F9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456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7B6D79-024A-ED7C-2024-28EBEAFFBCDC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476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A70C86-A95D-41C9-E3F7-4C90E9FC543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24946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096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653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855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31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2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8AB8AAE-6784-58C1-38E7-5B751400C04E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3E0602-C359-321F-7CFB-373106C87937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25" y="6377199"/>
            <a:ext cx="1772000" cy="4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874" r:id="rId9"/>
    <p:sldLayoutId id="2147483878" r:id="rId10"/>
    <p:sldLayoutId id="2147483879" r:id="rId11"/>
    <p:sldLayoutId id="2147483853" r:id="rId12"/>
    <p:sldLayoutId id="2147483854" r:id="rId13"/>
    <p:sldLayoutId id="2147483880" r:id="rId14"/>
    <p:sldLayoutId id="2147483881" r:id="rId15"/>
    <p:sldLayoutId id="2147483858" r:id="rId16"/>
    <p:sldLayoutId id="2147483882" r:id="rId17"/>
    <p:sldLayoutId id="2147483883" r:id="rId18"/>
    <p:sldLayoutId id="2147483860" r:id="rId19"/>
    <p:sldLayoutId id="2147483862" r:id="rId20"/>
    <p:sldLayoutId id="2147483886" r:id="rId21"/>
    <p:sldLayoutId id="2147483887" r:id="rId22"/>
    <p:sldLayoutId id="2147483888" r:id="rId23"/>
    <p:sldLayoutId id="2147483890" r:id="rId24"/>
    <p:sldLayoutId id="2147483891" r:id="rId25"/>
    <p:sldLayoutId id="2147483892" r:id="rId26"/>
    <p:sldLayoutId id="2147483894" r:id="rId27"/>
    <p:sldLayoutId id="2147483896" r:id="rId28"/>
    <p:sldLayoutId id="2147483897" r:id="rId29"/>
    <p:sldLayoutId id="2147483924" r:id="rId30"/>
    <p:sldLayoutId id="2147483925" r:id="rId31"/>
    <p:sldLayoutId id="2147483926" r:id="rId32"/>
    <p:sldLayoutId id="2147483927" r:id="rId33"/>
    <p:sldLayoutId id="2147483901" r:id="rId34"/>
    <p:sldLayoutId id="2147483902" r:id="rId35"/>
    <p:sldLayoutId id="2147483903" r:id="rId36"/>
    <p:sldLayoutId id="2147483905" r:id="rId37"/>
    <p:sldLayoutId id="2147483906" r:id="rId38"/>
    <p:sldLayoutId id="2147483907" r:id="rId39"/>
    <p:sldLayoutId id="2147483908" r:id="rId40"/>
    <p:sldLayoutId id="2147483909" r:id="rId41"/>
    <p:sldLayoutId id="2147483910" r:id="rId42"/>
    <p:sldLayoutId id="2147483911" r:id="rId43"/>
    <p:sldLayoutId id="2147483912" r:id="rId44"/>
    <p:sldLayoutId id="2147483913" r:id="rId45"/>
    <p:sldLayoutId id="2147483914" r:id="rId46"/>
    <p:sldLayoutId id="2147483915" r:id="rId47"/>
    <p:sldLayoutId id="2147483916" r:id="rId48"/>
    <p:sldLayoutId id="2147483917" r:id="rId49"/>
    <p:sldLayoutId id="2147483919" r:id="rId50"/>
    <p:sldLayoutId id="2147483920" r:id="rId51"/>
    <p:sldLayoutId id="2147483921" r:id="rId52"/>
    <p:sldLayoutId id="2147483922" r:id="rId53"/>
    <p:sldLayoutId id="2147483923" r:id="rId54"/>
    <p:sldLayoutId id="2147483825" r:id="rId55"/>
    <p:sldLayoutId id="2147483826" r:id="rId5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26.png"/><Relationship Id="rId3" Type="http://schemas.openxmlformats.org/officeDocument/2006/relationships/customXml" Target="../ink/ink1.xml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E14DD-4C51-EC60-95AF-C991B47CF263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l"/>
            <a:r>
              <a:rPr lang="en-US" dirty="0" sz="4000" b="1">
                <a:latin typeface="Calibri"/>
              </a:rPr>
              <a:t>SMART URBAN MOBILITY STRATEGY</a:t>
            </a:r>
            <a:endParaRPr lang="en-UZ" dirty="0"/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FE7021E1-08CD-802B-A18F-AAC65FA2EB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z="2400" b="0">
                <a:latin typeface="Calibri"/>
              </a:rPr>
              <a:t>CREATED BY: GROUP 9 (Ruhi, Eshan, Parth, Harshil, Himanshu)</a:t>
            </a:r>
            <a:endParaRPr lang="ru-RU" dirty="0"/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C843DF45-AC0D-3587-263A-9D417F9B7D5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37134" b="37134"/>
          <a:stretch>
            <a:fillRect/>
          </a:stretch>
        </p:blipFill>
        <p:spPr>
          <a:xfrm>
            <a:off x="587375" y="3078163"/>
            <a:ext cx="11017250" cy="3779837"/>
          </a:xfrm>
          <a:prstGeom prst="round2SameRect">
            <a:avLst>
              <a:gd name="adj1" fmla="val 13573"/>
              <a:gd name="adj2" fmla="val 0"/>
            </a:avLst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30E03D0-55B0-B7D6-C0B3-F507E4582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 algn="l"/>
            <a:r>
              <a:rPr lang="en-US" dirty="0" sz="2400" b="0">
                <a:latin typeface="Calibri"/>
              </a:rPr>
              <a:t>EcoPool : “Cut Carbon, not Convenience”</a:t>
            </a:r>
            <a:endParaRPr lang="ru-RU"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8229600" cy="91440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Cut Carbon, not Convenience</a:t>
            </a:r>
          </a:p>
        </p:txBody>
      </p:sp>
    </p:spTree>
    <p:extLst>
      <p:ext uri="{BB962C8B-B14F-4D97-AF65-F5344CB8AC3E}">
        <p14:creationId xmlns:p14="http://schemas.microsoft.com/office/powerpoint/2010/main" val="3757477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CE71-1456-06C3-D269-EA4AC75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293CE-38DF-E1D5-B4CE-C67EEEB6B2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Smart Urban Mobility Strategy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1072EF8-C113-7A50-C154-51BB53CE27B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6437" b="6437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10BEC-7DFA-0418-EB0A-BFC29B54364C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CHALLENGES IN URBAN COMMUTING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40FE09-5F3B-6551-966C-85689D9FFAE8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Urban commuters encounter significant trade-offs between travel time, costs, and environmental impacts. Bus services provide cost-effective solutions but tend to be slower. Conversely, private rides are quicker but come at a higher price and generate more CO₂ emissions. Understanding these dynamics is crucial for enhancing transportation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037868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C41E6B-FB5D-B1BB-8F48-A18255384113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TRIP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2CAE25-36A1-1522-005E-011C0D6F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AD09F-5A49-D37F-BAFF-9311C71F573B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algn="l"/>
            <a:r>
              <a:rPr lang="en-US" dirty="0" sz="2400" b="0">
                <a:latin typeface="Calibri"/>
              </a:rPr>
              <a:t>The dataset comprises trips covering Uber, Carpool, and Bus modes, enabling a thorough analysis of urban commuting patterns and their impact on mobility efficiency.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53F4C-2340-156A-00DA-785960D634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/>
            <a:r>
              <a:rPr lang="en-US" dirty="0" sz="4000" b="1">
                <a:latin typeface="Calibri"/>
              </a:rPr>
              <a:t>Smart Urban Mobility Strategy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8B99DB-C542-2798-4BE9-986928A7D6C2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KEY 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566A98-4D50-B4AC-9288-7EBA33F1C333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Key variables in the dataset include Distance (in miles), Time (in minutes), Cost (in USD), and CO₂ emissions (in kg), which facilitate in-depth evaluations of transportation choices.</a:t>
            </a:r>
          </a:p>
        </p:txBody>
      </p:sp>
    </p:spTree>
    <p:extLst>
      <p:ext uri="{BB962C8B-B14F-4D97-AF65-F5344CB8AC3E}">
        <p14:creationId xmlns:p14="http://schemas.microsoft.com/office/powerpoint/2010/main" val="2560938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642F-1534-59FD-BE70-8A36E0E1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51" y="1313708"/>
            <a:ext cx="3524738" cy="2512622"/>
          </a:xfrm>
        </p:spPr>
        <p:txBody>
          <a:bodyPr/>
          <a:lstStyle/>
          <a:p>
            <a:pPr algn="l"/>
            <a:r>
              <a:rPr lang="en-US" dirty="0" sz="2400" b="0">
                <a:latin typeface="Calibri"/>
              </a:rPr>
              <a:t>How do Different Modes Compare?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EE7D4-A0CD-B7E4-BB26-F31C70A7D3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4900462" cy="200055"/>
          </a:xfrm>
        </p:spPr>
        <p:txBody>
          <a:bodyPr/>
          <a:lstStyle/>
          <a:p>
            <a:pPr algn="l"/>
            <a:r>
              <a:rPr lang="en-US" dirty="0" sz="4000" b="1">
                <a:latin typeface="Calibri"/>
              </a:rPr>
              <a:t>Smart Urban Mobility Strategy</a:t>
            </a: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10F6626-C704-D639-C60F-6BD43494369C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917" y="1061357"/>
            <a:ext cx="7483833" cy="5016221"/>
          </a:xfrm>
          <a:ln w="19050">
            <a:solidFill>
              <a:schemeClr val="accent1"/>
            </a:solidFill>
          </a:ln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4FC87-6139-A39F-E477-72F32F3064C8}"/>
              </a:ext>
            </a:extLst>
          </p:cNvPr>
          <p:cNvSpPr txBox="1">
            <a:spLocks/>
          </p:cNvSpPr>
          <p:nvPr/>
        </p:nvSpPr>
        <p:spPr>
          <a:xfrm>
            <a:off x="591651" y="3870105"/>
            <a:ext cx="3536338" cy="614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dirty="0" sz="2400" b="0">
                <a:latin typeface="Calibri"/>
              </a:rPr>
              <a:t>Cost vs Time vs CO2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401B38-2319-E2ED-6408-E28C7D6DA131}"/>
                  </a:ext>
                </a:extLst>
              </p14:cNvPr>
              <p14:cNvContentPartPr/>
              <p14:nvPr/>
            </p14:nvContentPartPr>
            <p14:xfrm>
              <a:off x="5529883" y="-386554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401B38-2319-E2ED-6408-E28C7D6DA1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3763" y="-39267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8429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59DCE-23EF-17DE-AC61-73FD781724AB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COST AND EMISSIONS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84CEF3-E760-898A-81B2-B9993345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Key Insights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4A4A2-A443-F30D-BFED-47566377F25D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Buses are the cheapest and emit the least CO₂ but compromise on speed, making them the slowest option for commuters.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B6704-138E-1ED2-1B0E-2D768046A9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Smart Urban Mobility Strategy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B7D8C2-8078-4B73-BE31-CE67438B7911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CARPOOL BENEFITS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DBE6AF-6586-AE8A-A526-6EF76C133367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Carpools strike a balance between cost and speed, offering moderate pricing with faster travel times compared to buses.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C7F128-1E7D-426D-179D-34C38B8627B2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UBER ANALYSIS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0FF8AC-4870-AA01-4955-60A5860C2E86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Uber is the quickest transportation mode but comes with high costs and the greatest CO₂ emissions of all options listed.</a:t>
            </a:r>
          </a:p>
        </p:txBody>
      </p:sp>
    </p:spTree>
    <p:extLst>
      <p:ext uri="{BB962C8B-B14F-4D97-AF65-F5344CB8AC3E}">
        <p14:creationId xmlns:p14="http://schemas.microsoft.com/office/powerpoint/2010/main" val="58795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13340D-AA8A-4743-536B-0DC47F812C6C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SMART BUS SCHEDULING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4EED42-7E32-81CD-C91D-D1F09D62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Recommendations &amp; Business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9D2F5-BA1A-8829-DCB3-6848374CDCF3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Implement smart bus scheduling with advanced real-time data analytics for better efficiency.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98E79-8491-FAB6-5816-2DA6ED3E7D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/>
            <a:r>
              <a:rPr lang="en-US" sz="4000" b="1">
                <a:latin typeface="Calibri"/>
              </a:rPr>
              <a:t>Smart Urban Mobility Strategy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F16478-85A9-0387-5A60-E8001D3043C1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algn="l"/>
            <a:r>
              <a:rPr lang="en-US" dirty="0" sz="2400" b="0">
                <a:latin typeface="Calibri"/>
              </a:rPr>
              <a:t>ECOPOOL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99642-DE11-9BC5-4E52-8FBA74EE964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algn="l"/>
            <a:r>
              <a:rPr lang="en-US" dirty="0" sz="2400" b="0">
                <a:latin typeface="Calibri"/>
              </a:rPr>
              <a:t>Launch a EcoPool program that seamlessly integrates with existing bus routes.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8E1948-5901-2CE1-3712-714C916D60FD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ECO-DRIVING TRAINING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46D9AF-84AB-81ED-548B-B5433F1D7E6D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Introduce eco-driving training and optimize routes to enhance sustainability.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A4062-0940-5C35-ADE3-83BC08B5007F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PROJECTED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158470-72DA-5364-3486-82A2BF570C1D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algn="l"/>
            <a:r>
              <a:rPr lang="en-US" sz="2400" b="0">
                <a:latin typeface="Calibri"/>
              </a:rPr>
              <a:t>Aim for a 35–40% reduction in CO₂ emissions and save $1M in annual operational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3098747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ABC015-2D94-418C-99DE-B3E399C01A02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New York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333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Bahnschrift Light</vt:lpstr>
      <vt:lpstr>Wingdings</vt:lpstr>
      <vt:lpstr>New York</vt:lpstr>
      <vt:lpstr>EcoPool : “Cut Carbon, not Convenience”</vt:lpstr>
      <vt:lpstr>Problem Statement</vt:lpstr>
      <vt:lpstr>Dataset Overview</vt:lpstr>
      <vt:lpstr>How do Different Modes Compare?</vt:lpstr>
      <vt:lpstr>Key Insights</vt:lpstr>
      <vt:lpstr>Recommendations &amp; Business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Laddhad</dc:creator>
  <cp:lastModifiedBy>Himanshu Laddhad</cp:lastModifiedBy>
  <cp:revision>1</cp:revision>
  <dcterms:created xsi:type="dcterms:W3CDTF">2025-10-07T04:41:13Z</dcterms:created>
  <dcterms:modified xsi:type="dcterms:W3CDTF">2025-10-07T09:47:10Z</dcterms:modified>
</cp:coreProperties>
</file>